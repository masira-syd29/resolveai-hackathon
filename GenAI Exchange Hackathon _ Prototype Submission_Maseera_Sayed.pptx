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Google Sans" panose="020B0604020202020204" charset="0"/>
      <p:regular r:id="rId14"/>
      <p:bold r:id="rId15"/>
      <p:italic r:id="rId16"/>
      <p:boldItalic r:id="rId17"/>
    </p:embeddedFont>
    <p:embeddedFont>
      <p:font typeface="Google Sans Medium" panose="020B0604020202020204" charset="0"/>
      <p:regular r:id="rId18"/>
      <p:bold r:id="rId19"/>
      <p:italic r:id="rId20"/>
      <p:boldItalic r:id="rId21"/>
    </p:embeddedFont>
    <p:embeddedFont>
      <p:font typeface="Google Sans SemiBold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2b7494ca5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3" name="Google Shape;53;g22b7494ca5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2b7494ca5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61" name="Google Shape;61;g22b7494ca5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2b7494ca56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67" name="Google Shape;67;g22b7494ca56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2b7494ca56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3" name="Google Shape;73;g22b7494ca56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2b7494ca56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9" name="Google Shape;79;g22b7494ca56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2b7494ca56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85" name="Google Shape;85;g22b7494ca56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2b7494ca5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91" name="Google Shape;91;g22b7494ca56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2b7494ca56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97" name="Google Shape;97;g22b7494ca56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2b7494ca5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03" name="Google Shape;103;g22b7494ca56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c190bc4ce7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09" name="Google Shape;109;g2c190bc4ce7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c190bc4ce7_0_1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g2c190bc4ce7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TITLE_AND_BODY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github.com/masira-syd29/ResolveAI-Hackathon" TargetMode="External"/><Relationship Id="rId4" Type="http://schemas.openxmlformats.org/officeDocument/2006/relationships/hyperlink" Target="https://resolveai-hackathon-29ms.streamlit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 title="hackathon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 txBox="1"/>
          <p:nvPr/>
        </p:nvSpPr>
        <p:spPr>
          <a:xfrm>
            <a:off x="294675" y="308647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80000"/>
              </a:lnSpc>
            </a:pPr>
            <a:r>
              <a:rPr lang="en-GB" sz="1700" dirty="0">
                <a:solidFill>
                  <a:srgbClr val="202729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Team Name : </a:t>
            </a:r>
            <a:r>
              <a:rPr lang="en-IN" sz="1800" b="1" dirty="0" err="1"/>
              <a:t>ResolveAI</a:t>
            </a:r>
            <a:r>
              <a:rPr lang="en-IN" sz="1800" dirty="0"/>
              <a:t> </a:t>
            </a:r>
            <a:endParaRPr sz="1700" dirty="0">
              <a:solidFill>
                <a:srgbClr val="202729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57" name="Google Shape;57;p14"/>
          <p:cNvSpPr txBox="1"/>
          <p:nvPr/>
        </p:nvSpPr>
        <p:spPr>
          <a:xfrm>
            <a:off x="328730" y="403631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70000"/>
              </a:lnSpc>
            </a:pPr>
            <a:r>
              <a:rPr lang="en-GB" sz="1700" dirty="0">
                <a:solidFill>
                  <a:srgbClr val="202729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Problem Statement : </a:t>
            </a:r>
            <a:r>
              <a:rPr lang="en-US" b="1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AI-Powered Governance: Transforming Citizen Service Delivery</a:t>
            </a:r>
            <a:endParaRPr sz="1700" dirty="0">
              <a:solidFill>
                <a:srgbClr val="202729"/>
              </a:solidFill>
              <a:latin typeface="Google Sans Medium" panose="020B0604020202020204" charset="0"/>
              <a:ea typeface="Google Sans Medium" panose="020B0604020202020204" charset="0"/>
              <a:cs typeface="Google Sans Medium" panose="020B0604020202020204" charset="0"/>
              <a:sym typeface="Google Sans SemiBold"/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310163" y="356123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dirty="0">
                <a:solidFill>
                  <a:srgbClr val="202729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Team Leader Name : Maseera Irfan Ali Sayed</a:t>
            </a:r>
            <a:endParaRPr sz="1700" dirty="0">
              <a:solidFill>
                <a:srgbClr val="202729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5" title="hackathon 5 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5"/>
          <p:cNvSpPr txBox="1"/>
          <p:nvPr/>
        </p:nvSpPr>
        <p:spPr>
          <a:xfrm>
            <a:off x="327199" y="809306"/>
            <a:ext cx="35238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0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Brief about the prototype:</a:t>
            </a:r>
            <a:endParaRPr sz="1000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2D4FA9A-ECEF-4718-ED44-E86811D8D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942" y="1115016"/>
            <a:ext cx="848960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000" b="1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ResolveAI</a:t>
            </a:r>
            <a:r>
              <a:rPr lang="en-US" sz="1000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is a </a:t>
            </a:r>
            <a:r>
              <a:rPr lang="en-US" sz="1000" b="1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Dual-AI Platform</a:t>
            </a:r>
            <a:r>
              <a:rPr lang="en-US" sz="1000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designed to transform municipal governance from a reactive system to a proactive one, specifically focusing on critical infrastructure issues like potholes and water leaks across Mumbai's 24 Wards. </a:t>
            </a:r>
          </a:p>
          <a:p>
            <a:r>
              <a:rPr lang="en-US" sz="1000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It combines two core technologies:</a:t>
            </a:r>
          </a:p>
          <a:p>
            <a:endParaRPr lang="en-US" sz="1000" dirty="0">
              <a:latin typeface="Google Sans Medium" panose="020B0604020202020204" charset="0"/>
              <a:ea typeface="Google Sans Medium" panose="020B0604020202020204" charset="0"/>
              <a:cs typeface="Google Sans Medium" panose="020B060402020202020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000" b="1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Predictive Machine Learning:</a:t>
            </a:r>
            <a:r>
              <a:rPr lang="en-US" sz="1000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An ML model (Random Forest, 79.77% accuracy) trained on large-scale urban data, localized to Mumbai, to predict high-severity infrastructure failure hotspots </a:t>
            </a:r>
            <a:r>
              <a:rPr lang="en-US" sz="1000" b="1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before</a:t>
            </a:r>
            <a:r>
              <a:rPr lang="en-US" sz="1000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a complaint is filed.</a:t>
            </a:r>
          </a:p>
          <a:p>
            <a:pPr marL="228600" indent="-228600">
              <a:buFont typeface="+mj-lt"/>
              <a:buAutoNum type="arabicPeriod"/>
            </a:pPr>
            <a:endParaRPr lang="en-US" sz="1000" b="1" dirty="0">
              <a:latin typeface="Google Sans Medium" panose="020B0604020202020204" charset="0"/>
              <a:ea typeface="Google Sans Medium" panose="020B0604020202020204" charset="0"/>
              <a:cs typeface="Google Sans Medium" panose="020B060402020202020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000" b="1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Generative AI (Gemini):</a:t>
            </a:r>
            <a:r>
              <a:rPr lang="en-US" sz="1000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Used to instantly analyze vague, unstructured citizen text complaints, extracting critical data (Ward, Severity, Type), and automating the final step by drafting structured, actionable work orders for field crews.</a:t>
            </a:r>
          </a:p>
          <a:p>
            <a:endParaRPr lang="en-US" sz="1000" dirty="0">
              <a:latin typeface="Google Sans Medium" panose="020B0604020202020204" charset="0"/>
              <a:ea typeface="Google Sans Medium" panose="020B0604020202020204" charset="0"/>
              <a:cs typeface="Google Sans Medium" panose="020B0604020202020204" charset="0"/>
            </a:endParaRPr>
          </a:p>
          <a:p>
            <a:r>
              <a:rPr lang="en-US" sz="1000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The result is a system that allows managers to triage tickets in seconds and preemptively dispatch crews to prevent failures, leading to significant cost savings and improved citizen safety.</a:t>
            </a:r>
          </a:p>
        </p:txBody>
      </p:sp>
      <p:sp>
        <p:nvSpPr>
          <p:cNvPr id="5" name="Google Shape;64;p15">
            <a:extLst>
              <a:ext uri="{FF2B5EF4-FFF2-40B4-BE49-F238E27FC236}">
                <a16:creationId xmlns:a16="http://schemas.microsoft.com/office/drawing/2014/main" id="{0A250F83-1B19-F3AF-741B-BDAFE8683B7A}"/>
              </a:ext>
            </a:extLst>
          </p:cNvPr>
          <p:cNvSpPr txBox="1"/>
          <p:nvPr/>
        </p:nvSpPr>
        <p:spPr>
          <a:xfrm>
            <a:off x="327199" y="3129891"/>
            <a:ext cx="35238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0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Opportunity Explained:</a:t>
            </a:r>
            <a:endParaRPr sz="1000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04AB96C-C3A9-CAB4-FA31-512933BE9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942" y="3504843"/>
            <a:ext cx="8489601" cy="993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000" b="1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Problem:</a:t>
            </a:r>
            <a:r>
              <a:rPr lang="en-US" sz="1000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Manual processing of citizen complaints is slow, leads to backlogs, and poor resource allocation, resulting in repeated failures (e.g., the same pothole reappears).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000" b="1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Opportunity:</a:t>
            </a:r>
            <a:r>
              <a:rPr lang="en-US" sz="1000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Implement an intelligent system to automate triage, predict hotspots, and instantly generate structured work orders for field staff.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 title="hackathon 5 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6"/>
          <p:cNvSpPr txBox="1"/>
          <p:nvPr/>
        </p:nvSpPr>
        <p:spPr>
          <a:xfrm>
            <a:off x="0" y="333798"/>
            <a:ext cx="9144000" cy="4809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 Opportunity should be able to explain the following:</a:t>
            </a:r>
            <a:endParaRPr sz="1600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oogle Sans"/>
              <a:buChar char="●"/>
            </a:pPr>
            <a:r>
              <a:rPr lang="en-GB" sz="1600" dirty="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solutions?</a:t>
            </a:r>
          </a:p>
          <a:p>
            <a:pPr marL="127000"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</a:pPr>
            <a:endParaRPr sz="1600" dirty="0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1270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</a:pPr>
            <a:endParaRPr lang="en-GB" sz="1600" dirty="0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oogle Sans"/>
              <a:buChar char="●"/>
            </a:pPr>
            <a:r>
              <a:rPr lang="en-GB" sz="1600" dirty="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oogle Sans"/>
              <a:buChar char="●"/>
            </a:pPr>
            <a:endParaRPr lang="en-US" sz="1600" dirty="0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oogle Sans"/>
              <a:buChar char="●"/>
            </a:pPr>
            <a:endParaRPr lang="en-IN" sz="1600" dirty="0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oogle Sans"/>
              <a:buChar char="●"/>
            </a:pPr>
            <a:endParaRPr lang="en-US" sz="1600" dirty="0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oogle Sans"/>
              <a:buChar char="●"/>
            </a:pPr>
            <a:endParaRPr lang="en-IN" sz="1600" dirty="0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1270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</a:pPr>
            <a:endParaRPr sz="1600" dirty="0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oogle Sans"/>
              <a:buChar char="●"/>
            </a:pPr>
            <a:r>
              <a:rPr lang="en-GB" sz="1600" dirty="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600" dirty="0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C70E40-1BF6-11F3-E662-E7EF05FE8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52" y="1236693"/>
            <a:ext cx="8459839" cy="762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Traditional Solution: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Rely on manual input, basic ticket systems, and descriptive statistics (reports of past failures).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ResolveAI Difference: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It fuses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Predictive ML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(identifying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where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and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when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problems are likely) with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Generative AI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(automating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what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to do about it). This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Dual-AI system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provides a unique end-to-end management capability.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6332EF-B1E4-0E69-754F-7617301D1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52" y="2174469"/>
            <a:ext cx="8459839" cy="1454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Rapid Triage: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Gemini instantly analyzes vague, unstructured citizen text (e.g., "The road near the temple is bad") and extracts key data (location, severity, type).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Proactive Planning: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The ML model predicts high-risk areas based on historical data, road age, and mock precipitation data, allowing managers to dispatch crews before a complaint is even filed.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Automated Workflows: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Gemini drafts detailed, structured work orders and communications, cutting down administrative time by over 70%.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D0A2A4-B9F1-3FF8-917D-2648AFCA5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52" y="3963024"/>
            <a:ext cx="7176965" cy="531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Dual-AI Proactivity: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Combining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ML-driven prediction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with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GenAI-driven automation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in a single, secure platform.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Mumbai-Local Focus: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Model is trained and contextualized using data mapped specifically to the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24 MCGM Wards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 title="hackathon 5 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7"/>
          <p:cNvSpPr txBox="1"/>
          <p:nvPr/>
        </p:nvSpPr>
        <p:spPr>
          <a:xfrm>
            <a:off x="0" y="508883"/>
            <a:ext cx="9144000" cy="4770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List of features offered by the solution:</a:t>
            </a:r>
            <a:endParaRPr sz="1800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7FD9DE-62A4-70C8-5DB3-42EB22AFDF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607" y="586195"/>
            <a:ext cx="4357315" cy="2102761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06DDF8AA-0BCC-4804-CB80-BF66D6086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07" y="915688"/>
            <a:ext cx="4572000" cy="3128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Dashboard View: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Live map of predicted high-severity potholes/leaks across all 24 Wards.</a:t>
            </a:r>
          </a:p>
          <a:p>
            <a:pPr marL="171450" marR="0" lvl="0" indent="-1714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Triage/Analyze Page: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Allows managers to paste raw text complaints for instant GenAI analysis (Severity, Ward, Issue Type extraction).</a:t>
            </a:r>
          </a:p>
          <a:p>
            <a:pPr marL="171450" marR="0" lvl="0" indent="-1714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Predictive Work Order Generation: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Generates a structured task list and draft response using Gemini, ready for manager approval.</a:t>
            </a:r>
          </a:p>
          <a:p>
            <a:pPr marL="171450" marR="0" lvl="0" indent="-1714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Secure Access: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Prototype features a secure login, demonstrating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Role-Based Access Control (RBAC)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readiness.</a:t>
            </a:r>
          </a:p>
          <a:p>
            <a:pPr marL="171450" marR="0" lvl="0" indent="-1714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Localized Data Engine: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Leverages large NYC 311 data, cleaned and localized to Mumbai context.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C9C8AF-8693-9589-0C02-915285365A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606" y="2648401"/>
            <a:ext cx="4357315" cy="21150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8" title="hackathon 5 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8"/>
          <p:cNvSpPr txBox="1"/>
          <p:nvPr/>
        </p:nvSpPr>
        <p:spPr>
          <a:xfrm>
            <a:off x="0" y="511443"/>
            <a:ext cx="9144000" cy="4541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Process flow diagram: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600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0B0C23-FBCD-5243-1384-D56D15E3AA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7946" y="589280"/>
            <a:ext cx="4935974" cy="4328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9" title="hackathon 5 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9"/>
          <p:cNvSpPr txBox="1"/>
          <p:nvPr/>
        </p:nvSpPr>
        <p:spPr>
          <a:xfrm>
            <a:off x="0" y="480447"/>
            <a:ext cx="91440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Mock diagrams of the proposed solution(Optional)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600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92639E-3020-2A37-DCD8-165F8BEE7C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980" y="895590"/>
            <a:ext cx="8710047" cy="39476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0" title="hackathon 5 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0"/>
          <p:cNvSpPr txBox="1"/>
          <p:nvPr/>
        </p:nvSpPr>
        <p:spPr>
          <a:xfrm>
            <a:off x="0" y="511444"/>
            <a:ext cx="9144000" cy="453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Architecture diagram of the proposed solution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600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27BCF4-7C33-C1A1-FAF0-27910FED39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6" t="14297" r="-1"/>
          <a:stretch>
            <a:fillRect/>
          </a:stretch>
        </p:blipFill>
        <p:spPr>
          <a:xfrm>
            <a:off x="2407919" y="929640"/>
            <a:ext cx="5618481" cy="3997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1" title="hackathon 5 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1"/>
          <p:cNvSpPr txBox="1"/>
          <p:nvPr/>
        </p:nvSpPr>
        <p:spPr>
          <a:xfrm>
            <a:off x="0" y="488197"/>
            <a:ext cx="9144000" cy="453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616161"/>
              </a:buClr>
              <a:buSzPts val="1800"/>
              <a:buFont typeface="Proxima Nova"/>
              <a:buNone/>
            </a:pPr>
            <a:r>
              <a:rPr lang="en-GB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 Technologies to be used in the solution: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616161"/>
              </a:buClr>
              <a:buSzPts val="1800"/>
              <a:buFont typeface="Proxima Nova"/>
              <a:buNone/>
            </a:pPr>
            <a:endParaRPr sz="1600" i="0" u="none" strike="noStrike" cap="none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70DDF76-50AC-B127-BFAA-27F6FB34E4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968519"/>
              </p:ext>
            </p:extLst>
          </p:nvPr>
        </p:nvGraphicFramePr>
        <p:xfrm>
          <a:off x="921244" y="1046674"/>
          <a:ext cx="7580481" cy="3416299"/>
        </p:xfrm>
        <a:graphic>
          <a:graphicData uri="http://schemas.openxmlformats.org/drawingml/2006/table">
            <a:tbl>
              <a:tblPr/>
              <a:tblGrid>
                <a:gridCol w="2526827">
                  <a:extLst>
                    <a:ext uri="{9D8B030D-6E8A-4147-A177-3AD203B41FA5}">
                      <a16:colId xmlns:a16="http://schemas.microsoft.com/office/drawing/2014/main" val="4138583277"/>
                    </a:ext>
                  </a:extLst>
                </a:gridCol>
                <a:gridCol w="2526827">
                  <a:extLst>
                    <a:ext uri="{9D8B030D-6E8A-4147-A177-3AD203B41FA5}">
                      <a16:colId xmlns:a16="http://schemas.microsoft.com/office/drawing/2014/main" val="1881317726"/>
                    </a:ext>
                  </a:extLst>
                </a:gridCol>
                <a:gridCol w="2526827">
                  <a:extLst>
                    <a:ext uri="{9D8B030D-6E8A-4147-A177-3AD203B41FA5}">
                      <a16:colId xmlns:a16="http://schemas.microsoft.com/office/drawing/2014/main" val="3495308487"/>
                    </a:ext>
                  </a:extLst>
                </a:gridCol>
              </a:tblGrid>
              <a:tr h="271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effectLst/>
                          <a:latin typeface="Google Sans Medium" panose="020B0604020202020204" charset="0"/>
                          <a:ea typeface="Google Sans Medium" panose="020B0604020202020204" charset="0"/>
                          <a:cs typeface="Google Sans Medium" panose="020B0604020202020204" charset="0"/>
                        </a:rPr>
                        <a:t>Category</a:t>
                      </a:r>
                      <a:endParaRPr lang="en-IN" sz="1000" dirty="0">
                        <a:effectLst/>
                        <a:latin typeface="Google Sans Medium" panose="020B0604020202020204" charset="0"/>
                        <a:ea typeface="Google Sans Medium" panose="020B0604020202020204" charset="0"/>
                        <a:cs typeface="Google Sans Medium" panose="020B0604020202020204" charset="0"/>
                      </a:endParaRPr>
                    </a:p>
                  </a:txBody>
                  <a:tcPr marL="81340" marR="81340" marT="40670" marB="4067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effectLst/>
                          <a:latin typeface="Google Sans Medium" panose="020B0604020202020204" charset="0"/>
                          <a:ea typeface="Google Sans Medium" panose="020B0604020202020204" charset="0"/>
                          <a:cs typeface="Google Sans Medium" panose="020B0604020202020204" charset="0"/>
                        </a:rPr>
                        <a:t>Technology</a:t>
                      </a:r>
                      <a:endParaRPr lang="en-IN" sz="1000">
                        <a:effectLst/>
                        <a:latin typeface="Google Sans Medium" panose="020B0604020202020204" charset="0"/>
                        <a:ea typeface="Google Sans Medium" panose="020B0604020202020204" charset="0"/>
                        <a:cs typeface="Google Sans Medium" panose="020B0604020202020204" charset="0"/>
                      </a:endParaRPr>
                    </a:p>
                  </a:txBody>
                  <a:tcPr marL="81340" marR="81340" marT="40670" marB="4067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effectLst/>
                          <a:latin typeface="Google Sans Medium" panose="020B0604020202020204" charset="0"/>
                          <a:ea typeface="Google Sans Medium" panose="020B0604020202020204" charset="0"/>
                          <a:cs typeface="Google Sans Medium" panose="020B0604020202020204" charset="0"/>
                        </a:rPr>
                        <a:t>Purpose</a:t>
                      </a:r>
                      <a:endParaRPr lang="en-IN" sz="1000">
                        <a:effectLst/>
                        <a:latin typeface="Google Sans Medium" panose="020B0604020202020204" charset="0"/>
                        <a:ea typeface="Google Sans Medium" panose="020B0604020202020204" charset="0"/>
                        <a:cs typeface="Google Sans Medium" panose="020B0604020202020204" charset="0"/>
                      </a:endParaRPr>
                    </a:p>
                  </a:txBody>
                  <a:tcPr marL="81340" marR="81340" marT="40670" marB="4067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8370974"/>
                  </a:ext>
                </a:extLst>
              </a:tr>
              <a:tr h="460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effectLst/>
                          <a:latin typeface="Google Sans Medium" panose="020B0604020202020204" charset="0"/>
                          <a:ea typeface="Google Sans Medium" panose="020B0604020202020204" charset="0"/>
                          <a:cs typeface="Google Sans Medium" panose="020B0604020202020204" charset="0"/>
                        </a:rPr>
                        <a:t>Generative AI</a:t>
                      </a:r>
                      <a:endParaRPr lang="en-IN" sz="1000">
                        <a:effectLst/>
                        <a:latin typeface="Google Sans Medium" panose="020B0604020202020204" charset="0"/>
                        <a:ea typeface="Google Sans Medium" panose="020B0604020202020204" charset="0"/>
                        <a:cs typeface="Google Sans Medium" panose="020B0604020202020204" charset="0"/>
                      </a:endParaRPr>
                    </a:p>
                  </a:txBody>
                  <a:tcPr marL="81340" marR="81340" marT="40670" marB="4067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effectLst/>
                          <a:latin typeface="Google Sans Medium" panose="020B0604020202020204" charset="0"/>
                          <a:ea typeface="Google Sans Medium" panose="020B0604020202020204" charset="0"/>
                          <a:cs typeface="Google Sans Medium" panose="020B0604020202020204" charset="0"/>
                        </a:rPr>
                        <a:t>Google Gemini API</a:t>
                      </a:r>
                      <a:endParaRPr lang="en-IN" sz="1000">
                        <a:effectLst/>
                        <a:latin typeface="Google Sans Medium" panose="020B0604020202020204" charset="0"/>
                        <a:ea typeface="Google Sans Medium" panose="020B0604020202020204" charset="0"/>
                        <a:cs typeface="Google Sans Medium" panose="020B0604020202020204" charset="0"/>
                      </a:endParaRPr>
                    </a:p>
                  </a:txBody>
                  <a:tcPr marL="81340" marR="81340" marT="40670" marB="4067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  <a:latin typeface="Google Sans Medium" panose="020B0604020202020204" charset="0"/>
                          <a:ea typeface="Google Sans Medium" panose="020B0604020202020204" charset="0"/>
                          <a:cs typeface="Google Sans Medium" panose="020B0604020202020204" charset="0"/>
                        </a:rPr>
                        <a:t>Core intelligence for text analysis and drafting work orders.</a:t>
                      </a:r>
                    </a:p>
                  </a:txBody>
                  <a:tcPr marL="81340" marR="81340" marT="40670" marB="4067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328050"/>
                  </a:ext>
                </a:extLst>
              </a:tr>
              <a:tr h="650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effectLst/>
                          <a:latin typeface="Google Sans Medium" panose="020B0604020202020204" charset="0"/>
                          <a:ea typeface="Google Sans Medium" panose="020B0604020202020204" charset="0"/>
                          <a:cs typeface="Google Sans Medium" panose="020B0604020202020204" charset="0"/>
                        </a:rPr>
                        <a:t>Machine Learning</a:t>
                      </a:r>
                      <a:endParaRPr lang="en-IN" sz="1000">
                        <a:effectLst/>
                        <a:latin typeface="Google Sans Medium" panose="020B0604020202020204" charset="0"/>
                        <a:ea typeface="Google Sans Medium" panose="020B0604020202020204" charset="0"/>
                        <a:cs typeface="Google Sans Medium" panose="020B0604020202020204" charset="0"/>
                      </a:endParaRPr>
                    </a:p>
                  </a:txBody>
                  <a:tcPr marL="81340" marR="81340" marT="40670" marB="4067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effectLst/>
                          <a:latin typeface="Google Sans Medium" panose="020B0604020202020204" charset="0"/>
                          <a:ea typeface="Google Sans Medium" panose="020B0604020202020204" charset="0"/>
                          <a:cs typeface="Google Sans Medium" panose="020B0604020202020204" charset="0"/>
                        </a:rPr>
                        <a:t>Scikit-learn (RandomForest)</a:t>
                      </a:r>
                      <a:endParaRPr lang="en-IN" sz="1000">
                        <a:effectLst/>
                        <a:latin typeface="Google Sans Medium" panose="020B0604020202020204" charset="0"/>
                        <a:ea typeface="Google Sans Medium" panose="020B0604020202020204" charset="0"/>
                        <a:cs typeface="Google Sans Medium" panose="020B0604020202020204" charset="0"/>
                      </a:endParaRPr>
                    </a:p>
                  </a:txBody>
                  <a:tcPr marL="81340" marR="81340" marT="40670" marB="4067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  <a:latin typeface="Google Sans Medium" panose="020B0604020202020204" charset="0"/>
                          <a:ea typeface="Google Sans Medium" panose="020B0604020202020204" charset="0"/>
                          <a:cs typeface="Google Sans Medium" panose="020B0604020202020204" charset="0"/>
                        </a:rPr>
                        <a:t>Predictive modeling for severity assessment and hotspot identification.</a:t>
                      </a:r>
                    </a:p>
                  </a:txBody>
                  <a:tcPr marL="81340" marR="81340" marT="40670" marB="4067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3472055"/>
                  </a:ext>
                </a:extLst>
              </a:tr>
              <a:tr h="460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effectLst/>
                          <a:latin typeface="Google Sans Medium" panose="020B0604020202020204" charset="0"/>
                          <a:ea typeface="Google Sans Medium" panose="020B0604020202020204" charset="0"/>
                          <a:cs typeface="Google Sans Medium" panose="020B0604020202020204" charset="0"/>
                        </a:rPr>
                        <a:t>Frontend/App</a:t>
                      </a:r>
                      <a:endParaRPr lang="en-IN" sz="1000">
                        <a:effectLst/>
                        <a:latin typeface="Google Sans Medium" panose="020B0604020202020204" charset="0"/>
                        <a:ea typeface="Google Sans Medium" panose="020B0604020202020204" charset="0"/>
                        <a:cs typeface="Google Sans Medium" panose="020B0604020202020204" charset="0"/>
                      </a:endParaRPr>
                    </a:p>
                  </a:txBody>
                  <a:tcPr marL="81340" marR="81340" marT="40670" marB="4067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effectLst/>
                          <a:latin typeface="Google Sans Medium" panose="020B0604020202020204" charset="0"/>
                          <a:ea typeface="Google Sans Medium" panose="020B0604020202020204" charset="0"/>
                          <a:cs typeface="Google Sans Medium" panose="020B0604020202020204" charset="0"/>
                        </a:rPr>
                        <a:t>Streamlit</a:t>
                      </a:r>
                      <a:endParaRPr lang="en-IN" sz="1000">
                        <a:effectLst/>
                        <a:latin typeface="Google Sans Medium" panose="020B0604020202020204" charset="0"/>
                        <a:ea typeface="Google Sans Medium" panose="020B0604020202020204" charset="0"/>
                        <a:cs typeface="Google Sans Medium" panose="020B0604020202020204" charset="0"/>
                      </a:endParaRPr>
                    </a:p>
                  </a:txBody>
                  <a:tcPr marL="81340" marR="81340" marT="40670" marB="4067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  <a:latin typeface="Google Sans Medium" panose="020B0604020202020204" charset="0"/>
                          <a:ea typeface="Google Sans Medium" panose="020B0604020202020204" charset="0"/>
                          <a:cs typeface="Google Sans Medium" panose="020B0604020202020204" charset="0"/>
                        </a:rPr>
                        <a:t>Rapid application development and data visualization (Dashboard/UI).</a:t>
                      </a:r>
                    </a:p>
                  </a:txBody>
                  <a:tcPr marL="81340" marR="81340" marT="40670" marB="4067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5496962"/>
                  </a:ext>
                </a:extLst>
              </a:tr>
              <a:tr h="460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effectLst/>
                          <a:latin typeface="Google Sans Medium" panose="020B0604020202020204" charset="0"/>
                          <a:ea typeface="Google Sans Medium" panose="020B0604020202020204" charset="0"/>
                          <a:cs typeface="Google Sans Medium" panose="020B0604020202020204" charset="0"/>
                        </a:rPr>
                        <a:t>Deployment/Hosting</a:t>
                      </a:r>
                      <a:endParaRPr lang="en-IN" sz="1000">
                        <a:effectLst/>
                        <a:latin typeface="Google Sans Medium" panose="020B0604020202020204" charset="0"/>
                        <a:ea typeface="Google Sans Medium" panose="020B0604020202020204" charset="0"/>
                        <a:cs typeface="Google Sans Medium" panose="020B0604020202020204" charset="0"/>
                      </a:endParaRPr>
                    </a:p>
                  </a:txBody>
                  <a:tcPr marL="81340" marR="81340" marT="40670" marB="4067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effectLst/>
                          <a:latin typeface="Google Sans Medium" panose="020B0604020202020204" charset="0"/>
                          <a:ea typeface="Google Sans Medium" panose="020B0604020202020204" charset="0"/>
                          <a:cs typeface="Google Sans Medium" panose="020B0604020202020204" charset="0"/>
                        </a:rPr>
                        <a:t>Streamlit Cloud</a:t>
                      </a:r>
                      <a:endParaRPr lang="en-IN" sz="1000">
                        <a:effectLst/>
                        <a:latin typeface="Google Sans Medium" panose="020B0604020202020204" charset="0"/>
                        <a:ea typeface="Google Sans Medium" panose="020B0604020202020204" charset="0"/>
                        <a:cs typeface="Google Sans Medium" panose="020B0604020202020204" charset="0"/>
                      </a:endParaRPr>
                    </a:p>
                  </a:txBody>
                  <a:tcPr marL="81340" marR="81340" marT="40670" marB="4067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  <a:latin typeface="Google Sans Medium" panose="020B0604020202020204" charset="0"/>
                          <a:ea typeface="Google Sans Medium" panose="020B0604020202020204" charset="0"/>
                          <a:cs typeface="Google Sans Medium" panose="020B0604020202020204" charset="0"/>
                        </a:rPr>
                        <a:t>Simple, fast, public deployment of the Python app.</a:t>
                      </a:r>
                    </a:p>
                  </a:txBody>
                  <a:tcPr marL="81340" marR="81340" marT="40670" marB="4067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0549419"/>
                  </a:ext>
                </a:extLst>
              </a:tr>
              <a:tr h="460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effectLst/>
                          <a:latin typeface="Google Sans Medium" panose="020B0604020202020204" charset="0"/>
                          <a:ea typeface="Google Sans Medium" panose="020B0604020202020204" charset="0"/>
                          <a:cs typeface="Google Sans Medium" panose="020B0604020202020204" charset="0"/>
                        </a:rPr>
                        <a:t>Asset Storage</a:t>
                      </a:r>
                      <a:endParaRPr lang="en-IN" sz="1000">
                        <a:effectLst/>
                        <a:latin typeface="Google Sans Medium" panose="020B0604020202020204" charset="0"/>
                        <a:ea typeface="Google Sans Medium" panose="020B0604020202020204" charset="0"/>
                        <a:cs typeface="Google Sans Medium" panose="020B0604020202020204" charset="0"/>
                      </a:endParaRPr>
                    </a:p>
                  </a:txBody>
                  <a:tcPr marL="81340" marR="81340" marT="40670" marB="4067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effectLst/>
                          <a:latin typeface="Google Sans Medium" panose="020B0604020202020204" charset="0"/>
                          <a:ea typeface="Google Sans Medium" panose="020B0604020202020204" charset="0"/>
                          <a:cs typeface="Google Sans Medium" panose="020B0604020202020204" charset="0"/>
                        </a:rPr>
                        <a:t>Hugging Face Hub</a:t>
                      </a:r>
                      <a:endParaRPr lang="en-IN" sz="1000">
                        <a:effectLst/>
                        <a:latin typeface="Google Sans Medium" panose="020B0604020202020204" charset="0"/>
                        <a:ea typeface="Google Sans Medium" panose="020B0604020202020204" charset="0"/>
                        <a:cs typeface="Google Sans Medium" panose="020B0604020202020204" charset="0"/>
                      </a:endParaRPr>
                    </a:p>
                  </a:txBody>
                  <a:tcPr marL="81340" marR="81340" marT="40670" marB="4067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  <a:latin typeface="Google Sans Medium" panose="020B0604020202020204" charset="0"/>
                          <a:ea typeface="Google Sans Medium" panose="020B0604020202020204" charset="0"/>
                          <a:cs typeface="Google Sans Medium" panose="020B0604020202020204" charset="0"/>
                        </a:rPr>
                        <a:t>Bypassing the 100MB limit for the large ML model and simulated data.</a:t>
                      </a:r>
                    </a:p>
                  </a:txBody>
                  <a:tcPr marL="81340" marR="81340" marT="40670" marB="4067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3027521"/>
                  </a:ext>
                </a:extLst>
              </a:tr>
              <a:tr h="650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effectLst/>
                          <a:latin typeface="Google Sans Medium" panose="020B0604020202020204" charset="0"/>
                          <a:ea typeface="Google Sans Medium" panose="020B0604020202020204" charset="0"/>
                          <a:cs typeface="Google Sans Medium" panose="020B0604020202020204" charset="0"/>
                        </a:rPr>
                        <a:t>Data Context</a:t>
                      </a:r>
                      <a:endParaRPr lang="en-IN" sz="1000">
                        <a:effectLst/>
                        <a:latin typeface="Google Sans Medium" panose="020B0604020202020204" charset="0"/>
                        <a:ea typeface="Google Sans Medium" panose="020B0604020202020204" charset="0"/>
                        <a:cs typeface="Google Sans Medium" panose="020B0604020202020204" charset="0"/>
                      </a:endParaRPr>
                    </a:p>
                  </a:txBody>
                  <a:tcPr marL="81340" marR="81340" marT="40670" marB="4067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effectLst/>
                          <a:latin typeface="Google Sans Medium" panose="020B0604020202020204" charset="0"/>
                          <a:ea typeface="Google Sans Medium" panose="020B0604020202020204" charset="0"/>
                          <a:cs typeface="Google Sans Medium" panose="020B0604020202020204" charset="0"/>
                        </a:rPr>
                        <a:t>Pandas / Folium</a:t>
                      </a:r>
                      <a:endParaRPr lang="en-IN" sz="1000" dirty="0">
                        <a:effectLst/>
                        <a:latin typeface="Google Sans Medium" panose="020B0604020202020204" charset="0"/>
                        <a:ea typeface="Google Sans Medium" panose="020B0604020202020204" charset="0"/>
                        <a:cs typeface="Google Sans Medium" panose="020B0604020202020204" charset="0"/>
                      </a:endParaRPr>
                    </a:p>
                  </a:txBody>
                  <a:tcPr marL="81340" marR="81340" marT="40670" marB="4067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effectLst/>
                          <a:latin typeface="Google Sans Medium" panose="020B0604020202020204" charset="0"/>
                          <a:ea typeface="Google Sans Medium" panose="020B0604020202020204" charset="0"/>
                          <a:cs typeface="Google Sans Medium" panose="020B0604020202020204" charset="0"/>
                        </a:rPr>
                        <a:t>Data manipulation, mapping, and localization of NYC data to Mumbai Wards.</a:t>
                      </a:r>
                    </a:p>
                  </a:txBody>
                  <a:tcPr marL="81340" marR="81340" marT="40670" marB="4067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16743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2" title="hackathon 5 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2"/>
          <p:cNvSpPr txBox="1"/>
          <p:nvPr/>
        </p:nvSpPr>
        <p:spPr>
          <a:xfrm>
            <a:off x="309966" y="705173"/>
            <a:ext cx="8834034" cy="427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616161"/>
              </a:buClr>
              <a:buSzPts val="1800"/>
              <a:buFont typeface="Proxima Nova"/>
              <a:buNone/>
            </a:pPr>
            <a:r>
              <a:rPr lang="en-GB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Estimated implementation cost (optional):</a:t>
            </a:r>
            <a:endParaRPr sz="1600" i="0" u="none" strike="noStrike" cap="none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25CB0B-DE71-8E0D-07A7-7029D125A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56" y="1113113"/>
            <a:ext cx="8431078" cy="2562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Prototype Cost: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$0 (Free Tier)</a:t>
            </a:r>
            <a:endParaRPr lang="en-US" altLang="en-US" sz="1000" dirty="0">
              <a:solidFill>
                <a:schemeClr val="tx1"/>
              </a:solidFill>
              <a:latin typeface="Google Sans Medium" panose="020B0604020202020204" charset="0"/>
              <a:ea typeface="Google Sans Medium" panose="020B0604020202020204" charset="0"/>
              <a:cs typeface="Google Sans Medium" panose="020B0604020202020204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Streamlit Cloud: Free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Hugging Face Hub: Free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Gemini API: Utilized generous free-tier credits for development.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Medium" panose="020B0604020202020204" charset="0"/>
              <a:ea typeface="Google Sans Medium" panose="020B0604020202020204" charset="0"/>
              <a:cs typeface="Google Sans Medium" panose="020B060402020202020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Production Cost (Annual Estimate for Mumbai City):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$\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approx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\$15,000 - \$25,000$ (Low estimate, excluding personnel)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Major Cost Driver: Gemini API Usage (Cost per million tokens for high-volume analysis).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Minor Cost Driver: Managed Cloud Services (e.g., Google Cloud Storage/Vertex AI for scalable ML deployment).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Medium" panose="020B0604020202020204" charset="0"/>
              <a:ea typeface="Google Sans Medium" panose="020B0604020202020204" charset="0"/>
              <a:cs typeface="Google Sans Medium" panose="020B0604020202020204" charset="0"/>
            </a:endParaRPr>
          </a:p>
          <a:p>
            <a:pPr marL="228600" lvl="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1000" b="1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ROI (Return on Investment):</a:t>
            </a:r>
            <a:r>
              <a:rPr lang="en-US" sz="1000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The cost is easily offset by the </a:t>
            </a:r>
            <a:r>
              <a:rPr lang="en-US" sz="1000" b="1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estimated 30% reduction in repeat infrastructure failures</a:t>
            </a:r>
            <a:r>
              <a:rPr lang="en-US" sz="1000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and the </a:t>
            </a:r>
            <a:r>
              <a:rPr lang="en-US" sz="1000" b="1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70%-time savings</a:t>
            </a:r>
            <a:r>
              <a:rPr lang="en-US" sz="1000" dirty="0"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in manual ticket processing.</a:t>
            </a:r>
            <a:endParaRPr kumimoji="0" lang="en-US" altLang="en-US" sz="1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Medium" panose="020B0604020202020204" charset="0"/>
              <a:ea typeface="Google Sans Medium" panose="020B0604020202020204" charset="0"/>
              <a:cs typeface="Google Sans Medium" panose="020B06040202020202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3" title="hackathon 5 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3"/>
          <p:cNvSpPr txBox="1"/>
          <p:nvPr/>
        </p:nvSpPr>
        <p:spPr>
          <a:xfrm>
            <a:off x="0" y="534692"/>
            <a:ext cx="9144000" cy="4494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616161"/>
              </a:buClr>
              <a:buSzPts val="1800"/>
              <a:buFont typeface="Proxima Nova"/>
              <a:buNone/>
            </a:pPr>
            <a:r>
              <a:rPr lang="en-GB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Add as per the requirements for the hackathon: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616161"/>
              </a:buClr>
              <a:buSzPts val="1800"/>
              <a:buFont typeface="Proxima Nova"/>
              <a:buNone/>
            </a:pPr>
            <a:endParaRPr sz="1600" i="0" u="none" strike="noStrike" cap="none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6379B6-C0D3-5066-470D-BC2345DE3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28" y="1057558"/>
            <a:ext cx="8299343" cy="2839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Data Security &amp; Privacy: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Medium" panose="020B0604020202020204" charset="0"/>
              <a:ea typeface="Google Sans Medium" panose="020B0604020202020204" charset="0"/>
              <a:cs typeface="Google Sans Medium" panose="020B060402020202020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Secrets Management (Done):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All API keys are managed securely via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Streamlit Secrets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(environment variables), not hard-coded or committed to GitHub.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Role-Based Access (RBAC):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The prototype is built for a secure, internal government system requiring manager-level login (future implementation would enforce user roles).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Medium" panose="020B0604020202020204" charset="0"/>
              <a:ea typeface="Google Sans Medium" panose="020B0604020202020204" charset="0"/>
              <a:cs typeface="Google Sans Medium" panose="020B060402020202020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Scalability: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Medium" panose="020B0604020202020204" charset="0"/>
              <a:ea typeface="Google Sans Medium" panose="020B0604020202020204" charset="0"/>
              <a:cs typeface="Google Sans Medium" panose="020B060402020202020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Deployment: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The Streamlit/Gemini architecture is highly scalable, requiring only resource allocation adjustments for the Gemini API to handle millions of requests.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ML Model: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By using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Hugging Face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, the model file is versioned and easily loadable by multiple instances of the app.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Impact: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Resolves the critical civic challenge of infrastructure decay by providing an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Intelligent, Predictive, and Automated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 management tool.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6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4" title="hackathon 5 – 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AE7457E-DA2B-4D5D-6BF0-19FD9BA70811}"/>
              </a:ext>
            </a:extLst>
          </p:cNvPr>
          <p:cNvSpPr txBox="1"/>
          <p:nvPr/>
        </p:nvSpPr>
        <p:spPr>
          <a:xfrm>
            <a:off x="76200" y="4297680"/>
            <a:ext cx="63169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Working prototype Link: </a:t>
            </a:r>
            <a:r>
              <a:rPr 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https://resolveai-hackathon-29ms.streamlit.app/</a:t>
            </a:r>
            <a:endParaRPr lang="en-US" sz="1200" dirty="0">
              <a:solidFill>
                <a:schemeClr val="accent1">
                  <a:lumMod val="60000"/>
                  <a:lumOff val="40000"/>
                </a:schemeClr>
              </a:solidFill>
              <a:latin typeface="Google Sans Medium" panose="020B0604020202020204" charset="0"/>
              <a:ea typeface="Google Sans Medium" panose="020B0604020202020204" charset="0"/>
              <a:cs typeface="Google Sans Medium" panose="020B0604020202020204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</a:rPr>
              <a:t>GitHub Repository: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Google Sans Medium" panose="020B0604020202020204" charset="0"/>
                <a:ea typeface="Google Sans Medium" panose="020B0604020202020204" charset="0"/>
                <a:cs typeface="Google Sans Medium" panose="020B060402020202020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https://github.com/masira-syd29/ResolveAI-Hackathon</a:t>
            </a:r>
            <a:endParaRPr lang="en-US" sz="1200" dirty="0">
              <a:solidFill>
                <a:schemeClr val="accent1">
                  <a:lumMod val="60000"/>
                  <a:lumOff val="40000"/>
                </a:schemeClr>
              </a:solidFill>
              <a:latin typeface="Google Sans Medium" panose="020B0604020202020204" charset="0"/>
              <a:ea typeface="Google Sans Medium" panose="020B0604020202020204" charset="0"/>
              <a:cs typeface="Google Sans Medium" panose="020B0604020202020204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983</Words>
  <Application>Microsoft Office PowerPoint</Application>
  <PresentationFormat>On-screen Show (16:9)</PresentationFormat>
  <Paragraphs>86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Google Sans</vt:lpstr>
      <vt:lpstr>Wingdings</vt:lpstr>
      <vt:lpstr>Proxima Nova</vt:lpstr>
      <vt:lpstr>Courier New</vt:lpstr>
      <vt:lpstr>Google Sans SemiBold</vt:lpstr>
      <vt:lpstr>Arial</vt:lpstr>
      <vt:lpstr>Google Sans Medium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Madi</dc:creator>
  <cp:lastModifiedBy>Madi Sayed</cp:lastModifiedBy>
  <cp:revision>2</cp:revision>
  <dcterms:modified xsi:type="dcterms:W3CDTF">2025-10-30T02:53:01Z</dcterms:modified>
</cp:coreProperties>
</file>